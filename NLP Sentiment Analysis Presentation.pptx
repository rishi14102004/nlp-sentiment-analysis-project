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entury Gothic Paneuropean Bold" charset="1" panose="020B0702020202020204"/>
      <p:regular r:id="rId25"/>
    </p:embeddedFont>
    <p:embeddedFont>
      <p:font typeface="Open Sans" charset="1" panose="020B0606030504020204"/>
      <p:regular r:id="rId26"/>
    </p:embeddedFont>
    <p:embeddedFont>
      <p:font typeface="Open Sans Bold" charset="1" panose="020B0806030504020204"/>
      <p:regular r:id="rId27"/>
    </p:embeddedFont>
    <p:embeddedFont>
      <p:font typeface="Century Gothic Paneuropean" charset="1" panose="020B0502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4754" y="1812756"/>
            <a:ext cx="13018493" cy="352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30"/>
              </a:lnSpc>
            </a:pPr>
            <a:r>
              <a:rPr lang="en-US" b="true" sz="1009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NLP SENTIMENT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82925" y="5953114"/>
            <a:ext cx="8522150" cy="1128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2"/>
              </a:lnSpc>
            </a:pPr>
            <a:r>
              <a:rPr lang="en-US" sz="6573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 Science Project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289122" y="5251860"/>
            <a:ext cx="8791376" cy="4108330"/>
            <a:chOff x="0" y="0"/>
            <a:chExt cx="2315424" cy="1082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15424" cy="1082029"/>
            </a:xfrm>
            <a:custGeom>
              <a:avLst/>
              <a:gdLst/>
              <a:ahLst/>
              <a:cxnLst/>
              <a:rect r="r" b="b" t="t" l="l"/>
              <a:pathLst>
                <a:path h="1082029" w="2315424">
                  <a:moveTo>
                    <a:pt x="0" y="0"/>
                  </a:moveTo>
                  <a:lnTo>
                    <a:pt x="2315424" y="0"/>
                  </a:lnTo>
                  <a:lnTo>
                    <a:pt x="2315424" y="1082029"/>
                  </a:lnTo>
                  <a:lnTo>
                    <a:pt x="0" y="1082029"/>
                  </a:ln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315424" cy="1139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Rhucha Dhawale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Santhosh Chinnandi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Sharmila M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Aravind Bommena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Chandoj Rishikesh Chary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Mohamed Matheen S M</a:t>
              </a:r>
            </a:p>
            <a:p>
              <a:pPr algn="ctr">
                <a:lnSpc>
                  <a:spcPts val="44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634754" y="1054867"/>
            <a:ext cx="13018493" cy="125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11"/>
              </a:lnSpc>
            </a:pPr>
            <a:r>
              <a:rPr lang="en-US" b="true" sz="7293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OUR TEAM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20083" y="2978828"/>
            <a:ext cx="8115752" cy="8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3"/>
              </a:lnSpc>
            </a:pPr>
            <a:r>
              <a:rPr lang="en-US" sz="505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Mentor : Sadiya Maam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96308" y="4183807"/>
            <a:ext cx="8565846" cy="87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0"/>
              </a:lnSpc>
              <a:spcBef>
                <a:spcPct val="0"/>
              </a:spcBef>
            </a:pPr>
            <a:r>
              <a:rPr lang="en-US" b="true" sz="50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Member’s Names 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205832" y="1357636"/>
            <a:ext cx="8537178" cy="1094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9"/>
              </a:lnSpc>
            </a:pPr>
            <a:r>
              <a:rPr lang="en-US" b="true" sz="63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PROJECT OBJECTIVE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61115" y="3822440"/>
            <a:ext cx="12026612" cy="5079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Analyze customer reviews using NLP techniques.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Perform text preprocessing and feature extraction.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Build machine learning models for sentiment classification.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Compare model performance and identify the best classifier.</a:t>
            </a:r>
          </a:p>
          <a:p>
            <a:pPr algn="l">
              <a:lnSpc>
                <a:spcPts val="509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046692" y="695060"/>
            <a:ext cx="8537178" cy="214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69"/>
              </a:lnSpc>
            </a:pPr>
            <a:r>
              <a:rPr lang="en-US" b="true" sz="6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DATASET &amp; PROBLEM STATEMENT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78904" y="4086777"/>
            <a:ext cx="12130193" cy="380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Input data contains customer reviews and ratings.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Goal: Predict sentiment from textual reviews.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Sentiment categories created using review ratings.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Binary and multiclass sentiment analysis performed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21557" y="1310906"/>
            <a:ext cx="11444886" cy="211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b="true" sz="61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EXPLORATORY DATA ANALYSIS</a:t>
            </a:r>
          </a:p>
          <a:p>
            <a:pPr algn="ctr">
              <a:lnSpc>
                <a:spcPts val="854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619810" y="3777440"/>
            <a:ext cx="12061341" cy="338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9"/>
              </a:lnSpc>
            </a:pPr>
            <a:r>
              <a:rPr lang="en-US" sz="388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Analyzed review rating distribution.</a:t>
            </a:r>
          </a:p>
          <a:p>
            <a:pPr algn="l">
              <a:lnSpc>
                <a:spcPts val="5439"/>
              </a:lnSpc>
            </a:pPr>
            <a:r>
              <a:rPr lang="en-US" sz="388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Identified most frequent words and bigrams.</a:t>
            </a:r>
          </a:p>
          <a:p>
            <a:pPr algn="l">
              <a:lnSpc>
                <a:spcPts val="5439"/>
              </a:lnSpc>
            </a:pPr>
            <a:r>
              <a:rPr lang="en-US" sz="388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Studied review length patterns.</a:t>
            </a:r>
          </a:p>
          <a:p>
            <a:pPr algn="l">
              <a:lnSpc>
                <a:spcPts val="5439"/>
              </a:lnSpc>
            </a:pPr>
            <a:r>
              <a:rPr lang="en-US" sz="388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Generated insights from customer review behavior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2914" y="1754352"/>
            <a:ext cx="12383626" cy="8532648"/>
          </a:xfrm>
          <a:custGeom>
            <a:avLst/>
            <a:gdLst/>
            <a:ahLst/>
            <a:cxnLst/>
            <a:rect r="r" b="b" t="t" l="l"/>
            <a:pathLst>
              <a:path h="8532648" w="12383626">
                <a:moveTo>
                  <a:pt x="0" y="0"/>
                </a:moveTo>
                <a:lnTo>
                  <a:pt x="12383626" y="0"/>
                </a:lnTo>
                <a:lnTo>
                  <a:pt x="12383626" y="8532648"/>
                </a:lnTo>
                <a:lnTo>
                  <a:pt x="0" y="8532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4" t="0" r="-9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88441" y="445451"/>
            <a:ext cx="8192571" cy="105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Distribution of Ratings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29608" y="1522293"/>
            <a:ext cx="8537178" cy="214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69"/>
              </a:lnSpc>
            </a:pPr>
            <a:r>
              <a:rPr lang="en-US" b="true" sz="6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TEXT PREPROCESSING STEPS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80012" y="4116241"/>
            <a:ext cx="12836369" cy="444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•Handled missing and empty values.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•Combined text columns into a single review column.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•Removed emojis, non-ASCII characters, punctuation, and URLs.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•Converted text to lowercase.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Performed tokenization, stopword removal, and lemmatization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49177" y="1497649"/>
            <a:ext cx="13789645" cy="8576603"/>
          </a:xfrm>
          <a:custGeom>
            <a:avLst/>
            <a:gdLst/>
            <a:ahLst/>
            <a:cxnLst/>
            <a:rect r="r" b="b" t="t" l="l"/>
            <a:pathLst>
              <a:path h="8576603" w="13789645">
                <a:moveTo>
                  <a:pt x="0" y="0"/>
                </a:moveTo>
                <a:lnTo>
                  <a:pt x="13789646" y="0"/>
                </a:lnTo>
                <a:lnTo>
                  <a:pt x="13789646" y="8576603"/>
                </a:lnTo>
                <a:lnTo>
                  <a:pt x="0" y="8576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" r="-9904" b="-576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58264" y="445451"/>
            <a:ext cx="7971473" cy="105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Most Frequent Words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63891" y="1823790"/>
            <a:ext cx="11925963" cy="7677339"/>
          </a:xfrm>
          <a:custGeom>
            <a:avLst/>
            <a:gdLst/>
            <a:ahLst/>
            <a:cxnLst/>
            <a:rect r="r" b="b" t="t" l="l"/>
            <a:pathLst>
              <a:path h="7677339" w="11925963">
                <a:moveTo>
                  <a:pt x="0" y="0"/>
                </a:moveTo>
                <a:lnTo>
                  <a:pt x="11925963" y="0"/>
                </a:lnTo>
                <a:lnTo>
                  <a:pt x="11925963" y="7677339"/>
                </a:lnTo>
                <a:lnTo>
                  <a:pt x="0" y="7677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56649" y="453706"/>
            <a:ext cx="8340447" cy="103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Review Length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06944" y="1463832"/>
            <a:ext cx="8537178" cy="212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b="true" sz="61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FEATURE ENGINEERING</a:t>
            </a:r>
          </a:p>
          <a:p>
            <a:pPr algn="ctr">
              <a:lnSpc>
                <a:spcPts val="866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734157" y="3822440"/>
            <a:ext cx="12823110" cy="380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Created sentiment labels from ratings.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Applied Bag of Words and TF-IDF vectorization.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Converted text into numerical representation.</a:t>
            </a:r>
          </a:p>
          <a:p>
            <a:pPr algn="l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• Prepared features for machine learning models.</a:t>
            </a:r>
          </a:p>
          <a:p>
            <a:pPr algn="l">
              <a:lnSpc>
                <a:spcPts val="5096"/>
              </a:lnSpc>
            </a:pPr>
          </a:p>
          <a:p>
            <a:pPr algn="l">
              <a:lnSpc>
                <a:spcPts val="509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6596" y="1275419"/>
            <a:ext cx="8537178" cy="212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69"/>
              </a:lnSpc>
            </a:pPr>
            <a:r>
              <a:rPr lang="en-US" b="true" sz="61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MODEL BUILDING</a:t>
            </a:r>
          </a:p>
          <a:p>
            <a:pPr algn="ctr">
              <a:lnSpc>
                <a:spcPts val="852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607559" y="3338725"/>
            <a:ext cx="12191758" cy="380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Trained multiple machine learning models.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Algorithms used: Gradient Boosting, Random Forest, SVM, Logistic Regression.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Compared model accuracy and performance metrics.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Selected best-performing model for deployment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875411" y="1469201"/>
            <a:ext cx="8537178" cy="211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b="true" sz="61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MODEL RESULTS</a:t>
            </a:r>
          </a:p>
          <a:p>
            <a:pPr algn="ctr">
              <a:lnSpc>
                <a:spcPts val="85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109407" y="4086777"/>
            <a:ext cx="12069186" cy="316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Gradient Boosting Accuracy: 74.6%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Random Forest Accuracy: 76.7%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SVM Accuracy: 80%+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SVM and Logistic Regression delivered the best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56497" y="1890947"/>
            <a:ext cx="9464075" cy="7919964"/>
          </a:xfrm>
          <a:custGeom>
            <a:avLst/>
            <a:gdLst/>
            <a:ahLst/>
            <a:cxnLst/>
            <a:rect r="r" b="b" t="t" l="l"/>
            <a:pathLst>
              <a:path h="7919964" w="9464075">
                <a:moveTo>
                  <a:pt x="0" y="0"/>
                </a:moveTo>
                <a:lnTo>
                  <a:pt x="9464075" y="0"/>
                </a:lnTo>
                <a:lnTo>
                  <a:pt x="9464075" y="7919964"/>
                </a:lnTo>
                <a:lnTo>
                  <a:pt x="0" y="7919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7" r="0" b="-3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7302" y="445451"/>
            <a:ext cx="11322368" cy="1052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Initial SVM Model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7908" y="2082760"/>
            <a:ext cx="9737971" cy="8204240"/>
          </a:xfrm>
          <a:custGeom>
            <a:avLst/>
            <a:gdLst/>
            <a:ahLst/>
            <a:cxnLst/>
            <a:rect r="r" b="b" t="t" l="l"/>
            <a:pathLst>
              <a:path h="8204240" w="9737971">
                <a:moveTo>
                  <a:pt x="0" y="0"/>
                </a:moveTo>
                <a:lnTo>
                  <a:pt x="9737970" y="0"/>
                </a:lnTo>
                <a:lnTo>
                  <a:pt x="9737970" y="8204240"/>
                </a:lnTo>
                <a:lnTo>
                  <a:pt x="0" y="8204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6621" y="649199"/>
            <a:ext cx="15317034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Improved SVM Model Performance After Tuning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87572" y="2082760"/>
            <a:ext cx="9589865" cy="8079461"/>
          </a:xfrm>
          <a:custGeom>
            <a:avLst/>
            <a:gdLst/>
            <a:ahLst/>
            <a:cxnLst/>
            <a:rect r="r" b="b" t="t" l="l"/>
            <a:pathLst>
              <a:path h="8079461" w="9589865">
                <a:moveTo>
                  <a:pt x="0" y="0"/>
                </a:moveTo>
                <a:lnTo>
                  <a:pt x="9589865" y="0"/>
                </a:lnTo>
                <a:lnTo>
                  <a:pt x="9589865" y="8079461"/>
                </a:lnTo>
                <a:lnTo>
                  <a:pt x="0" y="8079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0530" y="658918"/>
            <a:ext cx="10643949" cy="103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Binary Classification Accuracy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13163" y="904984"/>
            <a:ext cx="12387037" cy="106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62"/>
              </a:lnSpc>
            </a:pPr>
            <a:r>
              <a:rPr lang="en-US" b="true" sz="6187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RESULTS &amp; OBSERVATIONS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00876" y="3733180"/>
            <a:ext cx="15318067" cy="257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1"/>
              </a:lnSpc>
              <a:spcBef>
                <a:spcPct val="0"/>
              </a:spcBef>
            </a:pPr>
            <a:r>
              <a:rPr lang="en-US" sz="36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•SVM and Logistic Regression achieved the best performance.</a:t>
            </a:r>
          </a:p>
          <a:p>
            <a:pPr algn="l">
              <a:lnSpc>
                <a:spcPts val="5151"/>
              </a:lnSpc>
              <a:spcBef>
                <a:spcPct val="0"/>
              </a:spcBef>
            </a:pPr>
            <a:r>
              <a:rPr lang="en-US" sz="36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•Binary sentiment classification improved overall accuracy.</a:t>
            </a:r>
          </a:p>
          <a:p>
            <a:pPr algn="l">
              <a:lnSpc>
                <a:spcPts val="5151"/>
              </a:lnSpc>
              <a:spcBef>
                <a:spcPct val="0"/>
              </a:spcBef>
            </a:pPr>
            <a:r>
              <a:rPr lang="en-US" sz="36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•TF-IDF and Bag of Words produced similar feature dimensions.</a:t>
            </a:r>
          </a:p>
          <a:p>
            <a:pPr algn="l">
              <a:lnSpc>
                <a:spcPts val="5151"/>
              </a:lnSpc>
              <a:spcBef>
                <a:spcPct val="0"/>
              </a:spcBef>
            </a:pPr>
            <a:r>
              <a:rPr lang="en-US" sz="36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•Preprocessing significantly improved text quality and model accuracy.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834333" y="1392021"/>
            <a:ext cx="10124599" cy="103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Streamlit Web Application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33171" y="3542866"/>
            <a:ext cx="12430959" cy="252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1"/>
              </a:lnSpc>
              <a:spcBef>
                <a:spcPct val="0"/>
              </a:spcBef>
            </a:pPr>
            <a:r>
              <a:rPr lang="en-US" sz="36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•Built a user-friendly Streamlit application.</a:t>
            </a:r>
          </a:p>
          <a:p>
            <a:pPr algn="l">
              <a:lnSpc>
                <a:spcPts val="5051"/>
              </a:lnSpc>
              <a:spcBef>
                <a:spcPct val="0"/>
              </a:spcBef>
            </a:pPr>
            <a:r>
              <a:rPr lang="en-US" sz="36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•Users can enter reviews directly into the app.</a:t>
            </a:r>
          </a:p>
          <a:p>
            <a:pPr algn="l">
              <a:lnSpc>
                <a:spcPts val="5051"/>
              </a:lnSpc>
              <a:spcBef>
                <a:spcPct val="0"/>
              </a:spcBef>
            </a:pPr>
            <a:r>
              <a:rPr lang="en-US" sz="36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•The system predicts sentiments instantly.</a:t>
            </a:r>
          </a:p>
          <a:p>
            <a:pPr algn="l">
              <a:lnSpc>
                <a:spcPts val="5051"/>
              </a:lnSpc>
              <a:spcBef>
                <a:spcPct val="0"/>
              </a:spcBef>
            </a:pPr>
            <a:r>
              <a:rPr lang="en-US" sz="36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Supports both binary and multi-class sentiment prediction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46372" y="1373712"/>
            <a:ext cx="14335614" cy="7884588"/>
          </a:xfrm>
          <a:custGeom>
            <a:avLst/>
            <a:gdLst/>
            <a:ahLst/>
            <a:cxnLst/>
            <a:rect r="r" b="b" t="t" l="l"/>
            <a:pathLst>
              <a:path h="7884588" w="14335614">
                <a:moveTo>
                  <a:pt x="0" y="0"/>
                </a:moveTo>
                <a:lnTo>
                  <a:pt x="14335614" y="0"/>
                </a:lnTo>
                <a:lnTo>
                  <a:pt x="14335614" y="7884588"/>
                </a:lnTo>
                <a:lnTo>
                  <a:pt x="0" y="7884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715917" y="139029"/>
            <a:ext cx="8226504" cy="103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Streamlit Application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668908" y="2913723"/>
            <a:ext cx="6953608" cy="1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90"/>
              </a:lnSpc>
              <a:spcBef>
                <a:spcPct val="0"/>
              </a:spcBef>
            </a:pPr>
            <a:r>
              <a:rPr lang="en-US" b="true" sz="920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DAHJVTRz1PQ</dc:identifier>
  <dcterms:modified xsi:type="dcterms:W3CDTF">2011-08-01T06:04:30Z</dcterms:modified>
  <cp:revision>1</cp:revision>
  <dc:title>Black Yellow Modern Minimalist Elegant Presentation</dc:title>
</cp:coreProperties>
</file>